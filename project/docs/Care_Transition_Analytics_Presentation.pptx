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Care Transition Efficiency &amp; Placement Outcome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Python + Streamlit Data Analytics Project</a:t>
            </a:r>
          </a:p>
          <a:p>
            <a:r>
              <a:t>UAC aggregate operational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UAC care can be viewed as a multi-stage pipeline.</a:t>
            </a:r>
          </a:p>
          <a:p>
            <a:pPr>
              <a:defRPr sz="2200"/>
            </a:pPr>
            <a:r>
              <a:t>CBP custody → HHS transfer → HHS care → discharge.</a:t>
            </a:r>
          </a:p>
          <a:p>
            <a:pPr>
              <a:defRPr sz="2200"/>
            </a:pPr>
            <a:r>
              <a:t>Capacity counts alone do not describe process movement.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How efficiently are transfers occurring?</a:t>
            </a:r>
          </a:p>
          <a:p>
            <a:pPr>
              <a:defRPr sz="2200"/>
            </a:pPr>
            <a:r>
              <a:t>Are discharges keeping pace with inflows?</a:t>
            </a:r>
          </a:p>
          <a:p>
            <a:pPr>
              <a:defRPr sz="2200"/>
            </a:pPr>
            <a:r>
              <a:t>When does active load accumulate?</a:t>
            </a:r>
          </a:p>
          <a:p>
            <a:pPr>
              <a:defRPr sz="2200"/>
            </a:pPr>
            <a:r>
              <a:t>Which periods show potential bottlenecks?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Measure transfer efficiency</a:t>
            </a:r>
          </a:p>
          <a:p>
            <a:pPr>
              <a:defRPr sz="2200"/>
            </a:pPr>
            <a:r>
              <a:t>Evaluate discharge effectiveness</a:t>
            </a:r>
          </a:p>
          <a:p>
            <a:pPr>
              <a:defRPr sz="2200"/>
            </a:pPr>
            <a:r>
              <a:t>Analyze active-load change</a:t>
            </a:r>
          </a:p>
          <a:p>
            <a:pPr>
              <a:defRPr sz="2200"/>
            </a:pPr>
            <a:r>
              <a:t>Identify temporal patterns</a:t>
            </a:r>
          </a:p>
          <a:p>
            <a:pPr>
              <a:defRPr sz="2200"/>
            </a:pPr>
            <a:r>
              <a:t>Build an interactive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CBP custody → Transfer → HHS care → Discharge → Sponsor placement/reunification</a:t>
            </a:r>
          </a:p>
          <a:p>
            <a:pPr>
              <a:defRPr sz="2200"/>
            </a:pPr>
            <a:r>
              <a:t>Source data are aggregate reporting counts.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Source rows: 1,170</a:t>
            </a:r>
          </a:p>
          <a:p>
            <a:pPr>
              <a:defRPr sz="2200"/>
            </a:pPr>
            <a:r>
              <a:t>Valid dated observations: 720</a:t>
            </a:r>
          </a:p>
          <a:p>
            <a:pPr>
              <a:defRPr sz="2200"/>
            </a:pPr>
            <a:r>
              <a:t>Original variables: 6</a:t>
            </a:r>
          </a:p>
          <a:p>
            <a:pPr>
              <a:defRPr sz="2200"/>
            </a:pPr>
            <a:r>
              <a:t>Date range: 2023-01-12 to 2025-12-21</a:t>
            </a:r>
          </a:p>
          <a:p>
            <a:pPr>
              <a:defRPr sz="2200"/>
            </a:pPr>
            <a:r>
              <a:t>Rows without valid dates: 450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Date parsing</a:t>
            </a:r>
          </a:p>
          <a:p>
            <a:pPr>
              <a:defRPr sz="2200"/>
            </a:pPr>
            <a:r>
              <a:t>Numeric conversion and comma cleanup</a:t>
            </a:r>
          </a:p>
          <a:p>
            <a:pPr>
              <a:defRPr sz="2200"/>
            </a:pPr>
            <a:r>
              <a:t>Missing/duplicate/negative checks</a:t>
            </a:r>
          </a:p>
          <a:p>
            <a:pPr>
              <a:defRPr sz="2200"/>
            </a:pPr>
            <a:r>
              <a:t>Chronological sorting</a:t>
            </a:r>
          </a:p>
          <a:p>
            <a:pPr>
              <a:defRPr sz="2200"/>
            </a:pPr>
            <a:r>
              <a:t>Feature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Transfer Efficiency = Transfers / CBP Custody × 100</a:t>
            </a:r>
          </a:p>
          <a:p>
            <a:pPr>
              <a:defRPr sz="2200"/>
            </a:pPr>
            <a:r>
              <a:t>Discharge Effectiveness = Discharges / HHS Care × 100</a:t>
            </a:r>
          </a:p>
          <a:p>
            <a:pPr>
              <a:defRPr sz="2200"/>
            </a:pPr>
            <a:r>
              <a:t>Aggregate Throughput = Discharges / Intake × 100</a:t>
            </a:r>
          </a:p>
          <a:p>
            <a:pPr>
              <a:defRPr sz="2200"/>
            </a:pPr>
            <a:r>
              <a:t>Active Load = CBP Custody + HHS Care</a:t>
            </a:r>
          </a:p>
          <a:p>
            <a:pPr>
              <a:defRPr sz="2200"/>
            </a:pPr>
            <a:r>
              <a:t>Load Change = Current − Previous observation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Total intake: 67,337</a:t>
            </a:r>
          </a:p>
          <a:p>
            <a:pPr>
              <a:defRPr sz="2200"/>
            </a:pPr>
            <a:r>
              <a:t>Total transfers: 92,641</a:t>
            </a:r>
          </a:p>
          <a:p>
            <a:pPr>
              <a:defRPr sz="2200"/>
            </a:pPr>
            <a:r>
              <a:t>Total discharges: 124,853</a:t>
            </a:r>
          </a:p>
          <a:p>
            <a:pPr>
              <a:defRPr sz="2200"/>
            </a:pPr>
            <a:r>
              <a:t>Maximum active load: 11,762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Weighted transfer efficiency: 75.03%</a:t>
            </a:r>
          </a:p>
          <a:p>
            <a:pPr>
              <a:defRPr sz="2200"/>
            </a:pPr>
            <a:r>
              <a:t>Weighted discharge effectiveness: 2.86%</a:t>
            </a:r>
          </a:p>
          <a:p>
            <a:pPr>
              <a:defRPr sz="2200"/>
            </a:pPr>
            <a:r>
              <a:t>These are ratio indicators, not elapsed-time measures.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Bottleneck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High/Critical observations: 180</a:t>
            </a:r>
          </a:p>
          <a:p>
            <a:pPr>
              <a:defRPr sz="2200"/>
            </a:pPr>
            <a:r>
              <a:t>Critical observations: 72</a:t>
            </a:r>
          </a:p>
          <a:p>
            <a:pPr>
              <a:defRPr sz="2200"/>
            </a:pPr>
            <a:r>
              <a:t>Largest active-load increase: 730</a:t>
            </a:r>
          </a:p>
          <a:p>
            <a:pPr>
              <a:defRPr sz="2200"/>
            </a:pPr>
            <a:r>
              <a:t>Severity is project-defined and data-driven.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Temporal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Monthly performance</a:t>
            </a:r>
          </a:p>
          <a:p>
            <a:pPr>
              <a:defRPr sz="2200"/>
            </a:pPr>
            <a:r>
              <a:t>Weekday vs weekend</a:t>
            </a:r>
          </a:p>
          <a:p>
            <a:pPr>
              <a:defRPr sz="2200"/>
            </a:pPr>
            <a:r>
              <a:t>Rolling indicators</a:t>
            </a:r>
          </a:p>
          <a:p>
            <a:pPr>
              <a:defRPr sz="2200"/>
            </a:pPr>
            <a:r>
              <a:t>Use dashboard charts for interactive exploration.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Date filters</a:t>
            </a:r>
          </a:p>
          <a:p>
            <a:pPr>
              <a:defRPr sz="2200"/>
            </a:pPr>
            <a:r>
              <a:t>KPI cards</a:t>
            </a:r>
          </a:p>
          <a:p>
            <a:pPr>
              <a:defRPr sz="2200"/>
            </a:pPr>
            <a:r>
              <a:t>Pipeline snapshot</a:t>
            </a:r>
          </a:p>
          <a:p>
            <a:pPr>
              <a:defRPr sz="2200"/>
            </a:pPr>
            <a:r>
              <a:t>Efficiency and backlog charts</a:t>
            </a:r>
          </a:p>
          <a:p>
            <a:pPr>
              <a:defRPr sz="2200"/>
            </a:pPr>
            <a:r>
              <a:t>Bottleneck table</a:t>
            </a:r>
          </a:p>
          <a:p>
            <a:pPr>
              <a:defRPr sz="2200"/>
            </a:pPr>
            <a:r>
              <a:t>CSV download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Monitor active load and flow together.</a:t>
            </a:r>
          </a:p>
          <a:p>
            <a:pPr>
              <a:defRPr sz="2200"/>
            </a:pPr>
            <a:r>
              <a:t>Investigate sustained low-efficiency periods.</a:t>
            </a:r>
          </a:p>
          <a:p>
            <a:pPr>
              <a:defRPr sz="2200"/>
            </a:pPr>
            <a:r>
              <a:t>Use alerts as review signals, not proof of cause.</a:t>
            </a:r>
          </a:p>
          <a:p>
            <a:pPr>
              <a:defRPr sz="2200"/>
            </a:pPr>
            <a:r>
              <a:t>Add case-level data for deeper analysis.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dashboard provides a process-efficiency lens.</a:t>
            </a:r>
          </a:p>
          <a:p>
            <a:pPr>
              <a:defRPr sz="2200"/>
            </a:pPr>
            <a:r>
              <a:t>Aggregate data cannot provide individual transition duration.</a:t>
            </a:r>
          </a:p>
          <a:p>
            <a:pPr>
              <a:defRPr sz="2200"/>
            </a:pPr>
            <a:r>
              <a:t>Descriptive patterns do not prove causation.</a:t>
            </a:r>
          </a:p>
          <a:p>
            <a:pPr>
              <a:defRPr sz="2200"/>
            </a:pPr>
            <a:r>
              <a:t>Future scope: case-level duration and predictive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